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Inter SemiBold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Oswald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swald-bold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4593ed20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4593ed20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4593ed20a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4593ed20a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4593ed20a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4593ed20a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4593ed20a_0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4593ed20a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4593ed20a_0_1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4593ed20a_0_1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4593ed20a_0_2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4593ed20a_0_2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4593ed20a_0_2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4593ed20a_0_2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4593ed20a_0_2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e4593ed20a_0_2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4593ed20a_0_3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e4593ed20a_0_3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4593ed20a_0_3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4593ed20a_0_3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4593ed20a_0_1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e4593ed20a_0_1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e4593ed20a_0_1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e4593ed20a_0_1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4593ed20a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e4593ed20a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4593ed20a_27_0)">
  <p:cSld name="Generated (g3e4593ed20a_27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190500"/>
            <a:ext cx="8520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E-Vision Pricing Model</a:t>
            </a:r>
            <a:endParaRPr b="1" sz="3200">
              <a:solidFill>
                <a:srgbClr val="F8FAF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22272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8"/>
              <a:buFont typeface="Arial"/>
              <a:buNone/>
            </a:pPr>
            <a:r>
              <a:rPr lang="en" sz="15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An AI-Powered Multimodal Solution for Intelligent Product Pricing in E-Commerce</a:t>
            </a:r>
            <a:endParaRPr sz="1550">
              <a:solidFill>
                <a:srgbClr val="E5E0D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8FAF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875" y="1238250"/>
            <a:ext cx="12384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476250" y="257175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Department of Computer Science and Engineering</a:t>
            </a:r>
            <a:endParaRPr b="0" sz="2000">
              <a:solidFill>
                <a:srgbClr val="33415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Institute of Engineering &amp; Technology (IET), Lucknow</a:t>
            </a:r>
            <a:endParaRPr b="0" sz="16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571500" y="3429000"/>
            <a:ext cx="3905400" cy="12384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4667250" y="3429000"/>
            <a:ext cx="3905400" cy="12384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4294967295" type="body"/>
          </p:nvPr>
        </p:nvSpPr>
        <p:spPr>
          <a:xfrm>
            <a:off x="762000" y="3524250"/>
            <a:ext cx="35244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Submitted by:</a:t>
            </a:r>
            <a:endParaRPr b="1" sz="14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Bhawna Chauhan </a:t>
            </a:r>
            <a:r>
              <a:rPr b="0" lang="en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(2300520109001)</a:t>
            </a:r>
            <a:endParaRPr b="0"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1200"/>
              </a:spcAft>
              <a:buNone/>
            </a:pPr>
            <a:r>
              <a:rPr b="0" lang="en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Nadia Kamar </a:t>
            </a:r>
            <a:r>
              <a:rPr b="0" lang="en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(2200520100040)</a:t>
            </a:r>
            <a:endParaRPr b="0"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857750" y="3524250"/>
            <a:ext cx="3524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Guided by:</a:t>
            </a:r>
            <a:endParaRPr b="1" sz="14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Dr. Manik Chandra</a:t>
            </a:r>
            <a:endParaRPr b="0"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Mr. Rakesh Gautam</a:t>
            </a:r>
            <a:endParaRPr b="0"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AGENDA</a:t>
            </a:r>
            <a:endParaRPr b="1" sz="3600">
              <a:solidFill>
                <a:srgbClr val="F8FAF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69" name="Google Shape;69;p15"/>
          <p:cNvGrpSpPr/>
          <p:nvPr/>
        </p:nvGrpSpPr>
        <p:grpSpPr>
          <a:xfrm>
            <a:off x="476250" y="1428750"/>
            <a:ext cx="2571900" cy="571500"/>
            <a:chOff x="476250" y="1428750"/>
            <a:chExt cx="2571900" cy="571500"/>
          </a:xfrm>
        </p:grpSpPr>
        <p:sp>
          <p:nvSpPr>
            <p:cNvPr id="70" name="Google Shape;70;p15"/>
            <p:cNvSpPr/>
            <p:nvPr/>
          </p:nvSpPr>
          <p:spPr>
            <a:xfrm>
              <a:off x="476250" y="1428750"/>
              <a:ext cx="25719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476250" y="1428750"/>
              <a:ext cx="381000" cy="571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01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952500" y="1428750"/>
              <a:ext cx="20001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Introduction</a:t>
              </a:r>
              <a:endParaRPr b="0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73" name="Google Shape;73;p15"/>
          <p:cNvGrpSpPr/>
          <p:nvPr/>
        </p:nvGrpSpPr>
        <p:grpSpPr>
          <a:xfrm>
            <a:off x="3286125" y="1428750"/>
            <a:ext cx="2571900" cy="571500"/>
            <a:chOff x="3286125" y="1428750"/>
            <a:chExt cx="2571900" cy="571500"/>
          </a:xfrm>
        </p:grpSpPr>
        <p:sp>
          <p:nvSpPr>
            <p:cNvPr id="74" name="Google Shape;74;p15"/>
            <p:cNvSpPr/>
            <p:nvPr/>
          </p:nvSpPr>
          <p:spPr>
            <a:xfrm>
              <a:off x="3286125" y="1428750"/>
              <a:ext cx="25719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3286125" y="1428750"/>
              <a:ext cx="381000" cy="571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02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3762375" y="1428750"/>
              <a:ext cx="20001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Motivation</a:t>
              </a:r>
              <a:endParaRPr b="0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77" name="Google Shape;77;p15"/>
          <p:cNvGrpSpPr/>
          <p:nvPr/>
        </p:nvGrpSpPr>
        <p:grpSpPr>
          <a:xfrm>
            <a:off x="6096000" y="1428750"/>
            <a:ext cx="2571900" cy="571500"/>
            <a:chOff x="6096000" y="1428750"/>
            <a:chExt cx="2571900" cy="571500"/>
          </a:xfrm>
        </p:grpSpPr>
        <p:sp>
          <p:nvSpPr>
            <p:cNvPr id="78" name="Google Shape;78;p15"/>
            <p:cNvSpPr/>
            <p:nvPr/>
          </p:nvSpPr>
          <p:spPr>
            <a:xfrm>
              <a:off x="6096000" y="1428750"/>
              <a:ext cx="25719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6096000" y="1428750"/>
              <a:ext cx="381000" cy="571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03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6572250" y="1428750"/>
              <a:ext cx="20001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Objective &amp; Problem Statement</a:t>
              </a:r>
              <a:endParaRPr b="0" sz="12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1" name="Google Shape;81;p15"/>
          <p:cNvGrpSpPr/>
          <p:nvPr/>
        </p:nvGrpSpPr>
        <p:grpSpPr>
          <a:xfrm>
            <a:off x="476250" y="2190750"/>
            <a:ext cx="2571900" cy="571500"/>
            <a:chOff x="476250" y="2190750"/>
            <a:chExt cx="2571900" cy="571500"/>
          </a:xfrm>
        </p:grpSpPr>
        <p:sp>
          <p:nvSpPr>
            <p:cNvPr id="82" name="Google Shape;82;p15"/>
            <p:cNvSpPr/>
            <p:nvPr/>
          </p:nvSpPr>
          <p:spPr>
            <a:xfrm>
              <a:off x="476250" y="2190750"/>
              <a:ext cx="25719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476250" y="2190750"/>
              <a:ext cx="381000" cy="571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04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952500" y="2190750"/>
              <a:ext cx="20001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Literature Survey</a:t>
              </a:r>
              <a:endParaRPr b="0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3286125" y="2190750"/>
            <a:ext cx="2571900" cy="571500"/>
            <a:chOff x="3286125" y="2190750"/>
            <a:chExt cx="2571900" cy="571500"/>
          </a:xfrm>
        </p:grpSpPr>
        <p:sp>
          <p:nvSpPr>
            <p:cNvPr id="86" name="Google Shape;86;p15"/>
            <p:cNvSpPr/>
            <p:nvPr/>
          </p:nvSpPr>
          <p:spPr>
            <a:xfrm>
              <a:off x="3286125" y="2190750"/>
              <a:ext cx="25719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 txBox="1"/>
            <p:nvPr/>
          </p:nvSpPr>
          <p:spPr>
            <a:xfrm>
              <a:off x="3286125" y="2190750"/>
              <a:ext cx="381000" cy="571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05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3762375" y="2190750"/>
              <a:ext cx="20001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Methodology</a:t>
              </a:r>
              <a:endParaRPr b="0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9" name="Google Shape;89;p15"/>
          <p:cNvGrpSpPr/>
          <p:nvPr/>
        </p:nvGrpSpPr>
        <p:grpSpPr>
          <a:xfrm>
            <a:off x="6096000" y="2190750"/>
            <a:ext cx="2571900" cy="571500"/>
            <a:chOff x="6096000" y="2190750"/>
            <a:chExt cx="2571900" cy="571500"/>
          </a:xfrm>
        </p:grpSpPr>
        <p:sp>
          <p:nvSpPr>
            <p:cNvPr id="90" name="Google Shape;90;p15"/>
            <p:cNvSpPr/>
            <p:nvPr/>
          </p:nvSpPr>
          <p:spPr>
            <a:xfrm>
              <a:off x="6096000" y="2190750"/>
              <a:ext cx="25719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6096000" y="2190750"/>
              <a:ext cx="381000" cy="571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06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6572250" y="2190750"/>
              <a:ext cx="20001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Implementation</a:t>
              </a:r>
              <a:endParaRPr b="0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93" name="Google Shape;93;p15"/>
          <p:cNvGrpSpPr/>
          <p:nvPr/>
        </p:nvGrpSpPr>
        <p:grpSpPr>
          <a:xfrm>
            <a:off x="476250" y="2952750"/>
            <a:ext cx="2571900" cy="571500"/>
            <a:chOff x="476250" y="2952750"/>
            <a:chExt cx="2571900" cy="571500"/>
          </a:xfrm>
        </p:grpSpPr>
        <p:sp>
          <p:nvSpPr>
            <p:cNvPr id="94" name="Google Shape;94;p15"/>
            <p:cNvSpPr/>
            <p:nvPr/>
          </p:nvSpPr>
          <p:spPr>
            <a:xfrm>
              <a:off x="476250" y="2952750"/>
              <a:ext cx="25719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 txBox="1"/>
            <p:nvPr/>
          </p:nvSpPr>
          <p:spPr>
            <a:xfrm>
              <a:off x="476250" y="2952750"/>
              <a:ext cx="381000" cy="571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07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96" name="Google Shape;96;p15"/>
            <p:cNvSpPr txBox="1"/>
            <p:nvPr/>
          </p:nvSpPr>
          <p:spPr>
            <a:xfrm>
              <a:off x="952500" y="2952750"/>
              <a:ext cx="20001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Result</a:t>
              </a:r>
              <a:endParaRPr b="0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97" name="Google Shape;97;p15"/>
          <p:cNvGrpSpPr/>
          <p:nvPr/>
        </p:nvGrpSpPr>
        <p:grpSpPr>
          <a:xfrm>
            <a:off x="3286125" y="2952750"/>
            <a:ext cx="2571900" cy="571500"/>
            <a:chOff x="3286125" y="2952750"/>
            <a:chExt cx="2571900" cy="571500"/>
          </a:xfrm>
        </p:grpSpPr>
        <p:sp>
          <p:nvSpPr>
            <p:cNvPr id="98" name="Google Shape;98;p15"/>
            <p:cNvSpPr/>
            <p:nvPr/>
          </p:nvSpPr>
          <p:spPr>
            <a:xfrm>
              <a:off x="3286125" y="2952750"/>
              <a:ext cx="25719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3286125" y="2952750"/>
              <a:ext cx="381000" cy="571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08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00" name="Google Shape;100;p15"/>
            <p:cNvSpPr txBox="1"/>
            <p:nvPr/>
          </p:nvSpPr>
          <p:spPr>
            <a:xfrm>
              <a:off x="3762375" y="2952750"/>
              <a:ext cx="20001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Conclusion</a:t>
              </a:r>
              <a:endParaRPr b="0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01" name="Google Shape;101;p15"/>
          <p:cNvGrpSpPr/>
          <p:nvPr/>
        </p:nvGrpSpPr>
        <p:grpSpPr>
          <a:xfrm>
            <a:off x="476250" y="3714750"/>
            <a:ext cx="2571900" cy="571500"/>
            <a:chOff x="476250" y="3714750"/>
            <a:chExt cx="2571900" cy="571500"/>
          </a:xfrm>
        </p:grpSpPr>
        <p:sp>
          <p:nvSpPr>
            <p:cNvPr id="102" name="Google Shape;102;p15"/>
            <p:cNvSpPr/>
            <p:nvPr/>
          </p:nvSpPr>
          <p:spPr>
            <a:xfrm>
              <a:off x="476250" y="3714750"/>
              <a:ext cx="25719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476250" y="3714750"/>
              <a:ext cx="381000" cy="571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09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952500" y="3714750"/>
              <a:ext cx="20001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Future Scope</a:t>
              </a:r>
              <a:endParaRPr b="0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05" name="Google Shape;105;p15"/>
          <p:cNvGrpSpPr/>
          <p:nvPr/>
        </p:nvGrpSpPr>
        <p:grpSpPr>
          <a:xfrm>
            <a:off x="3286125" y="3714750"/>
            <a:ext cx="2571900" cy="571500"/>
            <a:chOff x="3286125" y="3714750"/>
            <a:chExt cx="2571900" cy="571500"/>
          </a:xfrm>
        </p:grpSpPr>
        <p:sp>
          <p:nvSpPr>
            <p:cNvPr id="106" name="Google Shape;106;p15"/>
            <p:cNvSpPr/>
            <p:nvPr/>
          </p:nvSpPr>
          <p:spPr>
            <a:xfrm>
              <a:off x="3286125" y="3714750"/>
              <a:ext cx="25719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3286125" y="3714750"/>
              <a:ext cx="381000" cy="571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10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3762375" y="3714750"/>
              <a:ext cx="20001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References</a:t>
              </a:r>
              <a:endParaRPr b="0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0" y="0"/>
            <a:ext cx="9144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INTRODUCTION</a:t>
            </a:r>
            <a:endParaRPr b="1" sz="3600">
              <a:solidFill>
                <a:srgbClr val="F8FAF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476250" y="1238250"/>
            <a:ext cx="4286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4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Accurate e-commerce pricing is key, but traditional competitor-based algorithms fail for unique, custom, or bundled products (like gourmet baskets). This results in the </a:t>
            </a:r>
            <a:r>
              <a:rPr b="1" lang="en" sz="1064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Cold-Start Pricing Problem</a:t>
            </a:r>
            <a:r>
              <a:rPr lang="en" sz="1064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non-standard items lack competitor data, leading to inaccurate pricing that damages profit or sales. The </a:t>
            </a:r>
            <a:r>
              <a:rPr b="1" lang="en" sz="1064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E-Vision Pricing Model</a:t>
            </a:r>
            <a:r>
              <a:rPr lang="en" sz="1064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solves this using an intrinsic valuation strategy. Instead of external data, it analyzes product descriptions and images (packaging, quantity, presentation) to predict a fair price based on inherent worth.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476250" y="2952750"/>
            <a:ext cx="4286400" cy="1714500"/>
          </a:xfrm>
          <a:prstGeom prst="roundRect">
            <a:avLst>
              <a:gd fmla="val 6666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952750"/>
            <a:ext cx="12573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2952750"/>
            <a:ext cx="95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25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Our Solution</a:t>
            </a:r>
            <a:endParaRPr b="1" sz="925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666750" y="3429000"/>
            <a:ext cx="39054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E-Vision Pricing Model</a:t>
            </a:r>
            <a:endParaRPr b="1" sz="16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revolutionary approach that calculates </a:t>
            </a:r>
            <a:r>
              <a:rPr b="1" lang="en" sz="111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Intrinsic Value</a:t>
            </a: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by analyzing what a product contains and how it appears, rather than relying on external market comparisons.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5925" y="3895725"/>
            <a:ext cx="3333900" cy="7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65925" y="3895725"/>
            <a:ext cx="3333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1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Multimodal Data Dependency</a:t>
            </a:r>
            <a:endParaRPr b="1" sz="111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9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Value is captured by merging </a:t>
            </a:r>
            <a:r>
              <a:rPr b="0" lang="en" sz="925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Textual Descriptions</a:t>
            </a:r>
            <a:r>
              <a:rPr b="0" lang="en" sz="9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(ingredients, brand) with </a:t>
            </a:r>
            <a:r>
              <a:rPr b="0" lang="en" sz="925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Visual Cues</a:t>
            </a:r>
            <a:r>
              <a:rPr b="0" lang="en" sz="9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(packaging, design).</a:t>
            </a:r>
            <a:endParaRPr b="0" sz="9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3" name="Google Shape;12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59250" y="1232000"/>
            <a:ext cx="2747226" cy="23842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0" y="0"/>
            <a:ext cx="9144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OBJECTIVE &amp; PROBLEM STATEMENT</a:t>
            </a:r>
            <a:endParaRPr b="1" sz="3600">
              <a:solidFill>
                <a:srgbClr val="F8FAF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31" name="Google Shape;131;p17"/>
          <p:cNvGrpSpPr/>
          <p:nvPr/>
        </p:nvGrpSpPr>
        <p:grpSpPr>
          <a:xfrm>
            <a:off x="476250" y="1095375"/>
            <a:ext cx="4000500" cy="1809675"/>
            <a:chOff x="0" y="-142875"/>
            <a:chExt cx="4000500" cy="1809675"/>
          </a:xfrm>
        </p:grpSpPr>
        <p:sp>
          <p:nvSpPr>
            <p:cNvPr id="132" name="Google Shape;132;p17"/>
            <p:cNvSpPr/>
            <p:nvPr/>
          </p:nvSpPr>
          <p:spPr>
            <a:xfrm>
              <a:off x="0" y="0"/>
              <a:ext cx="40005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142875" y="-142875"/>
              <a:ext cx="1047900" cy="285900"/>
            </a:xfrm>
            <a:prstGeom prst="roundRect">
              <a:avLst>
                <a:gd fmla="val 13333" name="adj"/>
              </a:avLst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142875" y="-142875"/>
              <a:ext cx="104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The Problem</a:t>
              </a:r>
              <a:endParaRPr b="1" sz="95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190500" y="238125"/>
              <a:ext cx="3619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The Cold-Start Pricing Crisis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Traditional models fail for unique products like gourmet hampers and custom bundles due to a lack of direct market benchmarks. This leads to arbitrary pricing that either kills sales or destroys profit margins.</a:t>
              </a:r>
              <a:endParaRPr b="0" sz="97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6" name="Google Shape;136;p17"/>
          <p:cNvGrpSpPr/>
          <p:nvPr/>
        </p:nvGrpSpPr>
        <p:grpSpPr>
          <a:xfrm>
            <a:off x="476250" y="3048000"/>
            <a:ext cx="4000500" cy="1809675"/>
            <a:chOff x="0" y="-142875"/>
            <a:chExt cx="4000500" cy="1809675"/>
          </a:xfrm>
        </p:grpSpPr>
        <p:sp>
          <p:nvSpPr>
            <p:cNvPr id="137" name="Google Shape;137;p17"/>
            <p:cNvSpPr/>
            <p:nvPr/>
          </p:nvSpPr>
          <p:spPr>
            <a:xfrm>
              <a:off x="0" y="0"/>
              <a:ext cx="40005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142875" y="-142875"/>
              <a:ext cx="1047900" cy="285900"/>
            </a:xfrm>
            <a:prstGeom prst="roundRect">
              <a:avLst>
                <a:gd fmla="val 13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142875" y="-142875"/>
              <a:ext cx="104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Our Mission</a:t>
              </a:r>
              <a:endParaRPr b="1" sz="95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40" name="Google Shape;140;p17"/>
            <p:cNvSpPr txBox="1"/>
            <p:nvPr/>
          </p:nvSpPr>
          <p:spPr>
            <a:xfrm>
              <a:off x="190500" y="238125"/>
              <a:ext cx="3619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90671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978"/>
                <a:buFont typeface="Inter"/>
                <a:buChar char="●"/>
              </a:pPr>
              <a:r>
                <a:rPr b="1" lang="en" sz="978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Solve Cold-Start:</a:t>
              </a:r>
              <a:r>
                <a:rPr b="0" lang="en" sz="97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Establish accurate price forecasts based solely on intrinsic product characteristics.</a:t>
              </a:r>
              <a:endParaRPr b="0" sz="97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0671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78"/>
                <a:buFont typeface="Inter"/>
                <a:buChar char="●"/>
              </a:pPr>
              <a:r>
                <a:rPr b="1" lang="en" sz="978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Unified Representation:</a:t>
              </a:r>
              <a:r>
                <a:rPr b="0" lang="en" sz="97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Integrate BERT (text) and CLIP (visuals) for consistent valuation.</a:t>
              </a:r>
              <a:endParaRPr b="0" sz="97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0671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4155"/>
                </a:buClr>
                <a:buSzPts val="978"/>
                <a:buFont typeface="Inter"/>
                <a:buChar char="●"/>
              </a:pPr>
              <a:r>
                <a:rPr b="1" lang="en" sz="978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Mitigate Subjectivity:</a:t>
              </a:r>
              <a:r>
                <a:rPr b="0" lang="en" sz="97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Replace manual guesswork with a data-driven, scalable pricing strategy.</a:t>
              </a:r>
              <a:endParaRPr b="0" sz="97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A high-tech conceptual visualization of a digital appraisal system. A product (like a luxury gift basket) being scanned by glowing data lines, with BERT and CLIP neural network nodes appearing as holographic overlays. Professional studio lighting, clean tech aesthetic, white background." id="141" name="Google Shape;141;p17"/>
          <p:cNvPicPr preferRelativeResize="0"/>
          <p:nvPr/>
        </p:nvPicPr>
        <p:blipFill rotWithShape="1">
          <a:blip r:embed="rId3">
            <a:alphaModFix/>
          </a:blip>
          <a:srcRect b="2499" l="0" r="0" t="2499"/>
          <a:stretch/>
        </p:blipFill>
        <p:spPr>
          <a:xfrm>
            <a:off x="4857750" y="1238250"/>
            <a:ext cx="3810000" cy="3619500"/>
          </a:xfrm>
          <a:prstGeom prst="roundRect">
            <a:avLst>
              <a:gd fmla="val 3157" name="adj"/>
            </a:avLst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4857750" y="1238250"/>
            <a:ext cx="3810000" cy="3619500"/>
          </a:xfrm>
          <a:prstGeom prst="roundRect">
            <a:avLst>
              <a:gd fmla="val 3157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0" y="0"/>
            <a:ext cx="9144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LITERATURE SURVEY</a:t>
            </a:r>
            <a:endParaRPr b="1" sz="3200">
              <a:solidFill>
                <a:srgbClr val="F8FAF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76250" y="1095375"/>
            <a:ext cx="1238400" cy="285900"/>
          </a:xfrm>
          <a:prstGeom prst="roundRect">
            <a:avLst>
              <a:gd fmla="val 13333" name="adj"/>
            </a:avLst>
          </a:prstGeom>
          <a:solidFill>
            <a:srgbClr val="E11D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476250" y="1095375"/>
            <a:ext cx="1238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Key Foundations</a:t>
            </a:r>
            <a:endParaRPr b="1" sz="1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52" name="Google Shape;152;p18"/>
          <p:cNvGrpSpPr/>
          <p:nvPr/>
        </p:nvGrpSpPr>
        <p:grpSpPr>
          <a:xfrm>
            <a:off x="381000" y="1524000"/>
            <a:ext cx="8382000" cy="3238500"/>
            <a:chOff x="381000" y="1524000"/>
            <a:chExt cx="8382000" cy="3238500"/>
          </a:xfrm>
        </p:grpSpPr>
        <p:sp>
          <p:nvSpPr>
            <p:cNvPr id="153" name="Google Shape;153;p18"/>
            <p:cNvSpPr/>
            <p:nvPr/>
          </p:nvSpPr>
          <p:spPr>
            <a:xfrm>
              <a:off x="381000" y="1524000"/>
              <a:ext cx="83820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4" name="Google Shape;154;p18"/>
            <p:cNvCxnSpPr/>
            <p:nvPr/>
          </p:nvCxnSpPr>
          <p:spPr>
            <a:xfrm>
              <a:off x="381000" y="19050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18"/>
            <p:cNvCxnSpPr/>
            <p:nvPr/>
          </p:nvCxnSpPr>
          <p:spPr>
            <a:xfrm>
              <a:off x="1524000" y="1524000"/>
              <a:ext cx="0" cy="3238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18"/>
            <p:cNvCxnSpPr/>
            <p:nvPr/>
          </p:nvCxnSpPr>
          <p:spPr>
            <a:xfrm>
              <a:off x="3143250" y="1524000"/>
              <a:ext cx="0" cy="3238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18"/>
            <p:cNvCxnSpPr/>
            <p:nvPr/>
          </p:nvCxnSpPr>
          <p:spPr>
            <a:xfrm>
              <a:off x="4857750" y="1524000"/>
              <a:ext cx="0" cy="3238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18"/>
            <p:cNvCxnSpPr/>
            <p:nvPr/>
          </p:nvCxnSpPr>
          <p:spPr>
            <a:xfrm>
              <a:off x="6762750" y="1524000"/>
              <a:ext cx="0" cy="3238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9" name="Google Shape;159;p18"/>
            <p:cNvSpPr txBox="1"/>
            <p:nvPr/>
          </p:nvSpPr>
          <p:spPr>
            <a:xfrm>
              <a:off x="381000" y="1524000"/>
              <a:ext cx="114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References</a:t>
              </a:r>
              <a:endParaRPr b="1" sz="1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0" name="Google Shape;160;p18"/>
            <p:cNvSpPr txBox="1"/>
            <p:nvPr/>
          </p:nvSpPr>
          <p:spPr>
            <a:xfrm>
              <a:off x="1524000" y="1524000"/>
              <a:ext cx="161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Findings</a:t>
              </a:r>
              <a:endParaRPr b="1" sz="1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3143250" y="152400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Methods Used</a:t>
              </a:r>
              <a:endParaRPr b="1" sz="1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2" name="Google Shape;162;p18"/>
            <p:cNvSpPr txBox="1"/>
            <p:nvPr/>
          </p:nvSpPr>
          <p:spPr>
            <a:xfrm>
              <a:off x="4857750" y="152400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Important Features</a:t>
              </a:r>
              <a:endParaRPr b="1" sz="1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6762750" y="1524000"/>
              <a:ext cx="2000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Drawbacks</a:t>
              </a:r>
              <a:endParaRPr b="1" sz="1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64" name="Google Shape;164;p18"/>
            <p:cNvGrpSpPr/>
            <p:nvPr/>
          </p:nvGrpSpPr>
          <p:grpSpPr>
            <a:xfrm>
              <a:off x="381000" y="2000250"/>
              <a:ext cx="8382000" cy="666750"/>
              <a:chOff x="381000" y="2000250"/>
              <a:chExt cx="8382000" cy="666750"/>
            </a:xfrm>
          </p:grpSpPr>
          <p:sp>
            <p:nvSpPr>
              <p:cNvPr id="165" name="Google Shape;165;p18"/>
              <p:cNvSpPr txBox="1"/>
              <p:nvPr/>
            </p:nvSpPr>
            <p:spPr>
              <a:xfrm>
                <a:off x="476250" y="2000250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Devlin et al. (2019)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6" name="Google Shape;166;p18"/>
              <p:cNvSpPr txBox="1"/>
              <p:nvPr/>
            </p:nvSpPr>
            <p:spPr>
              <a:xfrm>
                <a:off x="1619250" y="2000250"/>
                <a:ext cx="1428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Bidirectional pre-training improves language understanding.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7" name="Google Shape;167;p18"/>
              <p:cNvSpPr txBox="1"/>
              <p:nvPr/>
            </p:nvSpPr>
            <p:spPr>
              <a:xfrm>
                <a:off x="3238500" y="2000250"/>
                <a:ext cx="1524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BERT (Transformer Encoder)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8" name="Google Shape;168;p18"/>
              <p:cNvSpPr txBox="1"/>
              <p:nvPr/>
            </p:nvSpPr>
            <p:spPr>
              <a:xfrm>
                <a:off x="4953000" y="200025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Contextualized embeddings; multi-head attention.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9" name="Google Shape;169;p18"/>
              <p:cNvSpPr txBox="1"/>
              <p:nvPr/>
            </p:nvSpPr>
            <p:spPr>
              <a:xfrm>
                <a:off x="6858000" y="2000250"/>
                <a:ext cx="18096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Computationally heavy; high-dimensional output.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170" name="Google Shape;170;p18"/>
              <p:cNvCxnSpPr/>
              <p:nvPr/>
            </p:nvCxnSpPr>
            <p:spPr>
              <a:xfrm>
                <a:off x="381000" y="2667000"/>
                <a:ext cx="8382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71" name="Google Shape;171;p18"/>
            <p:cNvGrpSpPr/>
            <p:nvPr/>
          </p:nvGrpSpPr>
          <p:grpSpPr>
            <a:xfrm>
              <a:off x="381000" y="2762250"/>
              <a:ext cx="8382000" cy="666750"/>
              <a:chOff x="381000" y="2762250"/>
              <a:chExt cx="8382000" cy="666750"/>
            </a:xfrm>
          </p:grpSpPr>
          <p:sp>
            <p:nvSpPr>
              <p:cNvPr id="172" name="Google Shape;172;p18"/>
              <p:cNvSpPr txBox="1"/>
              <p:nvPr/>
            </p:nvSpPr>
            <p:spPr>
              <a:xfrm>
                <a:off x="476250" y="2762250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Radford et al. (2021)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3" name="Google Shape;173;p18"/>
              <p:cNvSpPr txBox="1"/>
              <p:nvPr/>
            </p:nvSpPr>
            <p:spPr>
              <a:xfrm>
                <a:off x="1619250" y="2762250"/>
                <a:ext cx="1428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Language supervision trains transferable visual models.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4" name="Google Shape;174;p18"/>
              <p:cNvSpPr txBox="1"/>
              <p:nvPr/>
            </p:nvSpPr>
            <p:spPr>
              <a:xfrm>
                <a:off x="3238500" y="2762250"/>
                <a:ext cx="1524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CLIP (Contrastive Learning)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5" name="Google Shape;175;p18"/>
              <p:cNvSpPr txBox="1"/>
              <p:nvPr/>
            </p:nvSpPr>
            <p:spPr>
              <a:xfrm>
                <a:off x="4953000" y="276225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Shared embedding space; zero-shot capabilities.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6" name="Google Shape;176;p18"/>
              <p:cNvSpPr txBox="1"/>
              <p:nvPr/>
            </p:nvSpPr>
            <p:spPr>
              <a:xfrm>
                <a:off x="6858000" y="2762250"/>
                <a:ext cx="18096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Requires massive paired image-text datasets.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177" name="Google Shape;177;p18"/>
              <p:cNvCxnSpPr/>
              <p:nvPr/>
            </p:nvCxnSpPr>
            <p:spPr>
              <a:xfrm>
                <a:off x="381000" y="3429000"/>
                <a:ext cx="8382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78" name="Google Shape;178;p18"/>
            <p:cNvGrpSpPr/>
            <p:nvPr/>
          </p:nvGrpSpPr>
          <p:grpSpPr>
            <a:xfrm>
              <a:off x="381000" y="3524250"/>
              <a:ext cx="8382000" cy="666750"/>
              <a:chOff x="381000" y="3524250"/>
              <a:chExt cx="8382000" cy="666750"/>
            </a:xfrm>
          </p:grpSpPr>
          <p:sp>
            <p:nvSpPr>
              <p:cNvPr id="179" name="Google Shape;179;p18"/>
              <p:cNvSpPr txBox="1"/>
              <p:nvPr/>
            </p:nvSpPr>
            <p:spPr>
              <a:xfrm>
                <a:off x="476250" y="3524250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He et al. (2016)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0" name="Google Shape;180;p18"/>
              <p:cNvSpPr txBox="1"/>
              <p:nvPr/>
            </p:nvSpPr>
            <p:spPr>
              <a:xfrm>
                <a:off x="1619250" y="3524250"/>
                <a:ext cx="1428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Residual learning allows training ultra-deep networks.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1" name="Google Shape;181;p18"/>
              <p:cNvSpPr txBox="1"/>
              <p:nvPr/>
            </p:nvSpPr>
            <p:spPr>
              <a:xfrm>
                <a:off x="3238500" y="3524250"/>
                <a:ext cx="1524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ResNet (Deep Residual Networks)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2" name="Google Shape;182;p18"/>
              <p:cNvSpPr txBox="1"/>
              <p:nvPr/>
            </p:nvSpPr>
            <p:spPr>
              <a:xfrm>
                <a:off x="4953000" y="352425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Skip connections; accurate feature extraction.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3" name="Google Shape;183;p18"/>
              <p:cNvSpPr txBox="1"/>
              <p:nvPr/>
            </p:nvSpPr>
            <p:spPr>
              <a:xfrm>
                <a:off x="6858000" y="3524250"/>
                <a:ext cx="18096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Struggles with semantics without accompanying text.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184" name="Google Shape;184;p18"/>
              <p:cNvCxnSpPr/>
              <p:nvPr/>
            </p:nvCxnSpPr>
            <p:spPr>
              <a:xfrm>
                <a:off x="381000" y="4191000"/>
                <a:ext cx="8382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85" name="Google Shape;185;p18"/>
            <p:cNvGrpSpPr/>
            <p:nvPr/>
          </p:nvGrpSpPr>
          <p:grpSpPr>
            <a:xfrm>
              <a:off x="476250" y="4286250"/>
              <a:ext cx="8191350" cy="381000"/>
              <a:chOff x="476250" y="4286250"/>
              <a:chExt cx="8191350" cy="381000"/>
            </a:xfrm>
          </p:grpSpPr>
          <p:sp>
            <p:nvSpPr>
              <p:cNvPr id="186" name="Google Shape;186;p18"/>
              <p:cNvSpPr txBox="1"/>
              <p:nvPr/>
            </p:nvSpPr>
            <p:spPr>
              <a:xfrm>
                <a:off x="476250" y="4286250"/>
                <a:ext cx="952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Zhang et al. (2022)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7" name="Google Shape;187;p18"/>
              <p:cNvSpPr txBox="1"/>
              <p:nvPr/>
            </p:nvSpPr>
            <p:spPr>
              <a:xfrm>
                <a:off x="1619250" y="428625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Multimodal fusion improves product understanding.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8" name="Google Shape;188;p18"/>
              <p:cNvSpPr txBox="1"/>
              <p:nvPr/>
            </p:nvSpPr>
            <p:spPr>
              <a:xfrm>
                <a:off x="3238500" y="4286250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Multimodal Fusion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9" name="Google Shape;189;p18"/>
              <p:cNvSpPr txBox="1"/>
              <p:nvPr/>
            </p:nvSpPr>
            <p:spPr>
              <a:xfrm>
                <a:off x="4953000" y="4286250"/>
                <a:ext cx="1714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Holistic visual and textual capture.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0" name="Google Shape;190;p18"/>
              <p:cNvSpPr txBox="1"/>
              <p:nvPr/>
            </p:nvSpPr>
            <p:spPr>
              <a:xfrm>
                <a:off x="6858000" y="4286250"/>
                <a:ext cx="18096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Requires careful tuning to balance modalities.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0" y="0"/>
            <a:ext cx="9144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PROPOSED METHODOLOGY</a:t>
            </a:r>
            <a:endParaRPr b="1" sz="3600">
              <a:solidFill>
                <a:srgbClr val="F8FAF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97" name="Google Shape;197;p19"/>
          <p:cNvGrpSpPr/>
          <p:nvPr/>
        </p:nvGrpSpPr>
        <p:grpSpPr>
          <a:xfrm>
            <a:off x="381000" y="1143000"/>
            <a:ext cx="8382000" cy="762000"/>
            <a:chOff x="381000" y="1143000"/>
            <a:chExt cx="8382000" cy="762000"/>
          </a:xfrm>
        </p:grpSpPr>
        <p:sp>
          <p:nvSpPr>
            <p:cNvPr id="198" name="Google Shape;198;p19"/>
            <p:cNvSpPr/>
            <p:nvPr/>
          </p:nvSpPr>
          <p:spPr>
            <a:xfrm>
              <a:off x="381000" y="1143000"/>
              <a:ext cx="8382000" cy="762000"/>
            </a:xfrm>
            <a:prstGeom prst="roundRect">
              <a:avLst>
                <a:gd fmla="val 1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9"/>
            <p:cNvSpPr txBox="1"/>
            <p:nvPr/>
          </p:nvSpPr>
          <p:spPr>
            <a:xfrm>
              <a:off x="571500" y="11430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E-Vision Pricing Model employs a sophisticated multimodal deep learning architecture that processes product information through two parallel neural pathways, mimicking how human experts evaluate products by both reading specifications and visually assessing appearance.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0" name="Google Shape;200;p19"/>
          <p:cNvGrpSpPr/>
          <p:nvPr/>
        </p:nvGrpSpPr>
        <p:grpSpPr>
          <a:xfrm>
            <a:off x="381000" y="2095500"/>
            <a:ext cx="1952700" cy="2286000"/>
            <a:chOff x="381000" y="2095500"/>
            <a:chExt cx="1952700" cy="2286000"/>
          </a:xfrm>
        </p:grpSpPr>
        <p:sp>
          <p:nvSpPr>
            <p:cNvPr id="201" name="Google Shape;201;p19"/>
            <p:cNvSpPr/>
            <p:nvPr/>
          </p:nvSpPr>
          <p:spPr>
            <a:xfrm>
              <a:off x="381000" y="2095500"/>
              <a:ext cx="1952700" cy="22860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9"/>
            <p:cNvSpPr/>
            <p:nvPr/>
          </p:nvSpPr>
          <p:spPr>
            <a:xfrm>
              <a:off x="381000" y="2095500"/>
              <a:ext cx="1952700" cy="381000"/>
            </a:xfrm>
            <a:prstGeom prst="roundRect">
              <a:avLst>
                <a:gd fmla="val 30000" name="adj"/>
              </a:avLst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381000" y="2286000"/>
              <a:ext cx="1952700" cy="1905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9"/>
            <p:cNvSpPr txBox="1"/>
            <p:nvPr/>
          </p:nvSpPr>
          <p:spPr>
            <a:xfrm>
              <a:off x="381000" y="2095500"/>
              <a:ext cx="1952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01. DATA COLLECTION</a:t>
              </a:r>
              <a:endParaRPr b="1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05" name="Google Shape;205;p19"/>
            <p:cNvSpPr txBox="1"/>
            <p:nvPr/>
          </p:nvSpPr>
          <p:spPr>
            <a:xfrm>
              <a:off x="523875" y="2571750"/>
              <a:ext cx="16668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System receives raw product data: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High-res images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Detailed catalog descriptions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Bullet points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Numerical attributes (weight, volume)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6" name="Google Shape;206;p19"/>
          <p:cNvGrpSpPr/>
          <p:nvPr/>
        </p:nvGrpSpPr>
        <p:grpSpPr>
          <a:xfrm>
            <a:off x="2524125" y="2095500"/>
            <a:ext cx="1952700" cy="2286000"/>
            <a:chOff x="2524125" y="2095500"/>
            <a:chExt cx="1952700" cy="2286000"/>
          </a:xfrm>
        </p:grpSpPr>
        <p:sp>
          <p:nvSpPr>
            <p:cNvPr id="207" name="Google Shape;207;p19"/>
            <p:cNvSpPr/>
            <p:nvPr/>
          </p:nvSpPr>
          <p:spPr>
            <a:xfrm>
              <a:off x="2524125" y="2095500"/>
              <a:ext cx="1952700" cy="22860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9"/>
            <p:cNvSpPr/>
            <p:nvPr/>
          </p:nvSpPr>
          <p:spPr>
            <a:xfrm>
              <a:off x="2524125" y="2095500"/>
              <a:ext cx="1952700" cy="381000"/>
            </a:xfrm>
            <a:prstGeom prst="roundRect">
              <a:avLst>
                <a:gd fmla="val 3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9"/>
            <p:cNvSpPr/>
            <p:nvPr/>
          </p:nvSpPr>
          <p:spPr>
            <a:xfrm>
              <a:off x="2524125" y="2286000"/>
              <a:ext cx="1952700" cy="190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9"/>
            <p:cNvSpPr txBox="1"/>
            <p:nvPr/>
          </p:nvSpPr>
          <p:spPr>
            <a:xfrm>
              <a:off x="2524125" y="2095500"/>
              <a:ext cx="1952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02. EXTRACTION</a:t>
              </a:r>
              <a:endParaRPr b="1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11" name="Google Shape;211;p19"/>
            <p:cNvSpPr txBox="1"/>
            <p:nvPr/>
          </p:nvSpPr>
          <p:spPr>
            <a:xfrm>
              <a:off x="2667000" y="2571750"/>
              <a:ext cx="16668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Text Branch (BERT):</a:t>
              </a:r>
              <a:endParaRPr b="1" sz="1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Semantic meaning, brand quality, and quantities.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Image Branch (CLIP):</a:t>
              </a:r>
              <a:endParaRPr b="1" sz="1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Packaging quality, branding, and aesthetic appeal.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2" name="Google Shape;212;p19"/>
          <p:cNvGrpSpPr/>
          <p:nvPr/>
        </p:nvGrpSpPr>
        <p:grpSpPr>
          <a:xfrm>
            <a:off x="4667250" y="2095500"/>
            <a:ext cx="1952700" cy="2286000"/>
            <a:chOff x="4667250" y="2095500"/>
            <a:chExt cx="1952700" cy="2286000"/>
          </a:xfrm>
        </p:grpSpPr>
        <p:sp>
          <p:nvSpPr>
            <p:cNvPr id="213" name="Google Shape;213;p19"/>
            <p:cNvSpPr/>
            <p:nvPr/>
          </p:nvSpPr>
          <p:spPr>
            <a:xfrm>
              <a:off x="4667250" y="2095500"/>
              <a:ext cx="1952700" cy="22860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4667250" y="2095500"/>
              <a:ext cx="1952700" cy="381000"/>
            </a:xfrm>
            <a:prstGeom prst="roundRect">
              <a:avLst>
                <a:gd fmla="val 3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4667250" y="2286000"/>
              <a:ext cx="1952700" cy="190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4667250" y="2095500"/>
              <a:ext cx="1952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03. FEATURE FUSION</a:t>
              </a:r>
              <a:endParaRPr b="1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17" name="Google Shape;217;p19"/>
            <p:cNvSpPr txBox="1"/>
            <p:nvPr/>
          </p:nvSpPr>
          <p:spPr>
            <a:xfrm>
              <a:off x="4810125" y="2571750"/>
              <a:ext cx="16668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BERT (768-d) and CLIP (512-d) embeddings are concatenated.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Processed through fusion layers to create a unified product representation.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8" name="Google Shape;218;p19"/>
          <p:cNvGrpSpPr/>
          <p:nvPr/>
        </p:nvGrpSpPr>
        <p:grpSpPr>
          <a:xfrm>
            <a:off x="6810375" y="2095500"/>
            <a:ext cx="1952700" cy="2286000"/>
            <a:chOff x="6810375" y="2095500"/>
            <a:chExt cx="1952700" cy="2286000"/>
          </a:xfrm>
        </p:grpSpPr>
        <p:sp>
          <p:nvSpPr>
            <p:cNvPr id="219" name="Google Shape;219;p19"/>
            <p:cNvSpPr/>
            <p:nvPr/>
          </p:nvSpPr>
          <p:spPr>
            <a:xfrm>
              <a:off x="6810375" y="2095500"/>
              <a:ext cx="1952700" cy="22860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9"/>
            <p:cNvSpPr/>
            <p:nvPr/>
          </p:nvSpPr>
          <p:spPr>
            <a:xfrm>
              <a:off x="6810375" y="2095500"/>
              <a:ext cx="1952700" cy="381000"/>
            </a:xfrm>
            <a:prstGeom prst="roundRect">
              <a:avLst>
                <a:gd fmla="val 3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9"/>
            <p:cNvSpPr/>
            <p:nvPr/>
          </p:nvSpPr>
          <p:spPr>
            <a:xfrm>
              <a:off x="6810375" y="2286000"/>
              <a:ext cx="1952700" cy="190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9"/>
            <p:cNvSpPr txBox="1"/>
            <p:nvPr/>
          </p:nvSpPr>
          <p:spPr>
            <a:xfrm>
              <a:off x="6810375" y="2095500"/>
              <a:ext cx="1952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04. PRICE PREDICTION</a:t>
              </a:r>
              <a:endParaRPr b="1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23" name="Google Shape;223;p19"/>
            <p:cNvSpPr txBox="1"/>
            <p:nvPr/>
          </p:nvSpPr>
          <p:spPr>
            <a:xfrm>
              <a:off x="6953250" y="2571750"/>
              <a:ext cx="16668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Regression head analyzes fused features to generate final prediction.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Learns complex relationships between product characteristics and market value.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224" name="Google Shape;224;p19"/>
          <p:cNvCxnSpPr>
            <a:stCxn id="205" idx="3"/>
            <a:endCxn id="211" idx="1"/>
          </p:cNvCxnSpPr>
          <p:nvPr/>
        </p:nvCxnSpPr>
        <p:spPr>
          <a:xfrm>
            <a:off x="2190675" y="3429000"/>
            <a:ext cx="47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19"/>
          <p:cNvCxnSpPr>
            <a:endCxn id="217" idx="1"/>
          </p:cNvCxnSpPr>
          <p:nvPr/>
        </p:nvCxnSpPr>
        <p:spPr>
          <a:xfrm>
            <a:off x="4333725" y="3429000"/>
            <a:ext cx="47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19"/>
          <p:cNvCxnSpPr>
            <a:stCxn id="217" idx="3"/>
            <a:endCxn id="223" idx="1"/>
          </p:cNvCxnSpPr>
          <p:nvPr/>
        </p:nvCxnSpPr>
        <p:spPr>
          <a:xfrm>
            <a:off x="6476925" y="3429000"/>
            <a:ext cx="47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52500"/>
            <a:ext cx="91440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0" y="0"/>
            <a:ext cx="9144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MULTIMODAL FEATURE EXTRACTION</a:t>
            </a:r>
            <a:endParaRPr b="1" sz="3200">
              <a:solidFill>
                <a:srgbClr val="F8FAF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234" name="Google Shape;234;p20"/>
          <p:cNvGrpSpPr/>
          <p:nvPr/>
        </p:nvGrpSpPr>
        <p:grpSpPr>
          <a:xfrm>
            <a:off x="285750" y="1333500"/>
            <a:ext cx="1047900" cy="3143400"/>
            <a:chOff x="285750" y="1333500"/>
            <a:chExt cx="1047900" cy="3143400"/>
          </a:xfrm>
        </p:grpSpPr>
        <p:sp>
          <p:nvSpPr>
            <p:cNvPr id="235" name="Google Shape;235;p20"/>
            <p:cNvSpPr/>
            <p:nvPr/>
          </p:nvSpPr>
          <p:spPr>
            <a:xfrm>
              <a:off x="285750" y="1333500"/>
              <a:ext cx="1047900" cy="1047900"/>
            </a:xfrm>
            <a:prstGeom prst="roundRect">
              <a:avLst>
                <a:gd fmla="val 909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0"/>
            <p:cNvSpPr txBox="1"/>
            <p:nvPr/>
          </p:nvSpPr>
          <p:spPr>
            <a:xfrm>
              <a:off x="285750" y="1333500"/>
              <a:ext cx="1047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Oswald"/>
                  <a:ea typeface="Oswald"/>
                  <a:cs typeface="Oswald"/>
                  <a:sym typeface="Oswald"/>
                </a:rPr>
                <a:t>STEP 01</a:t>
              </a:r>
              <a:endParaRPr b="1" sz="1000">
                <a:solidFill>
                  <a:srgbClr val="64748B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Oswald"/>
                  <a:ea typeface="Oswald"/>
                  <a:cs typeface="Oswald"/>
                  <a:sym typeface="Oswald"/>
                </a:rPr>
                <a:t>PROCESSING</a:t>
              </a:r>
              <a:endParaRPr b="1" sz="12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285750" y="2571750"/>
              <a:ext cx="1047900" cy="857400"/>
            </a:xfrm>
            <a:prstGeom prst="roundRect">
              <a:avLst>
                <a:gd fmla="val 11111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0"/>
            <p:cNvSpPr txBox="1"/>
            <p:nvPr/>
          </p:nvSpPr>
          <p:spPr>
            <a:xfrm>
              <a:off x="285750" y="2571750"/>
              <a:ext cx="1047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Oswald"/>
                  <a:ea typeface="Oswald"/>
                  <a:cs typeface="Oswald"/>
                  <a:sym typeface="Oswald"/>
                </a:rPr>
                <a:t>STEP 02</a:t>
              </a:r>
              <a:endParaRPr b="1" sz="1000">
                <a:solidFill>
                  <a:srgbClr val="64748B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Oswald"/>
                  <a:ea typeface="Oswald"/>
                  <a:cs typeface="Oswald"/>
                  <a:sym typeface="Oswald"/>
                </a:rPr>
                <a:t>FUSION</a:t>
              </a:r>
              <a:endParaRPr b="1" sz="12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285750" y="3619500"/>
              <a:ext cx="1047900" cy="857400"/>
            </a:xfrm>
            <a:prstGeom prst="roundRect">
              <a:avLst>
                <a:gd fmla="val 11111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0"/>
            <p:cNvSpPr txBox="1"/>
            <p:nvPr/>
          </p:nvSpPr>
          <p:spPr>
            <a:xfrm>
              <a:off x="285750" y="3619500"/>
              <a:ext cx="1047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Oswald"/>
                  <a:ea typeface="Oswald"/>
                  <a:cs typeface="Oswald"/>
                  <a:sym typeface="Oswald"/>
                </a:rPr>
                <a:t>STEP 03</a:t>
              </a:r>
              <a:endParaRPr b="1" sz="1000">
                <a:solidFill>
                  <a:srgbClr val="64748B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Oswald"/>
                  <a:ea typeface="Oswald"/>
                  <a:cs typeface="Oswald"/>
                  <a:sym typeface="Oswald"/>
                </a:rPr>
                <a:t>PREDICTION</a:t>
              </a:r>
              <a:endParaRPr b="1" sz="120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241" name="Google Shape;241;p20"/>
          <p:cNvGrpSpPr/>
          <p:nvPr/>
        </p:nvGrpSpPr>
        <p:grpSpPr>
          <a:xfrm>
            <a:off x="1619250" y="1190625"/>
            <a:ext cx="7048500" cy="1333500"/>
            <a:chOff x="1619250" y="1190625"/>
            <a:chExt cx="7048500" cy="1333500"/>
          </a:xfrm>
        </p:grpSpPr>
        <p:sp>
          <p:nvSpPr>
            <p:cNvPr id="242" name="Google Shape;242;p20"/>
            <p:cNvSpPr/>
            <p:nvPr/>
          </p:nvSpPr>
          <p:spPr>
            <a:xfrm>
              <a:off x="1619250" y="1190625"/>
              <a:ext cx="34290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1809750" y="1285875"/>
              <a:ext cx="381000" cy="3810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0"/>
            <p:cNvSpPr txBox="1"/>
            <p:nvPr/>
          </p:nvSpPr>
          <p:spPr>
            <a:xfrm>
              <a:off x="1809750" y="131216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image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2286000" y="1285875"/>
              <a:ext cx="2571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Image Branch (CLIP)</a:t>
              </a:r>
              <a:endParaRPr b="1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Extracts packaging quality, branding, and aesthetic appeal.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E11D48"/>
                  </a:solidFill>
                  <a:latin typeface="Inter"/>
                  <a:ea typeface="Inter"/>
                  <a:cs typeface="Inter"/>
                  <a:sym typeface="Inter"/>
                </a:rPr>
                <a:t>Output: 512-dim Visual Features</a:t>
              </a:r>
              <a:endParaRPr b="1" sz="900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5238750" y="1190625"/>
              <a:ext cx="34290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5429250" y="1285875"/>
              <a:ext cx="381000" cy="381000"/>
            </a:xfrm>
            <a:prstGeom prst="ellipse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 txBox="1"/>
            <p:nvPr/>
          </p:nvSpPr>
          <p:spPr>
            <a:xfrm>
              <a:off x="5429250" y="131216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9" name="Google Shape;249;p20"/>
            <p:cNvSpPr txBox="1"/>
            <p:nvPr/>
          </p:nvSpPr>
          <p:spPr>
            <a:xfrm>
              <a:off x="5905500" y="1285875"/>
              <a:ext cx="2571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Text Branch (BERT)</a:t>
              </a:r>
              <a:endParaRPr b="1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Analyzes semantic meaning, brand quality, and product specifications.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Output: 768-dim Textual Features</a:t>
              </a:r>
              <a:endParaRPr b="1" sz="9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0" name="Google Shape;250;p20"/>
          <p:cNvGrpSpPr/>
          <p:nvPr/>
        </p:nvGrpSpPr>
        <p:grpSpPr>
          <a:xfrm>
            <a:off x="1619250" y="2642971"/>
            <a:ext cx="7048500" cy="446532"/>
            <a:chOff x="1619250" y="2524125"/>
            <a:chExt cx="7048500" cy="762000"/>
          </a:xfrm>
        </p:grpSpPr>
        <p:sp>
          <p:nvSpPr>
            <p:cNvPr id="251" name="Google Shape;251;p20"/>
            <p:cNvSpPr/>
            <p:nvPr/>
          </p:nvSpPr>
          <p:spPr>
            <a:xfrm>
              <a:off x="1619250" y="2714625"/>
              <a:ext cx="7048500" cy="5715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0"/>
            <p:cNvSpPr txBox="1"/>
            <p:nvPr/>
          </p:nvSpPr>
          <p:spPr>
            <a:xfrm>
              <a:off x="1619250" y="2714625"/>
              <a:ext cx="7048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MULTIMODAL CONCATENATION LAYER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pic>
          <p:nvPicPr>
            <p:cNvPr id="253" name="Google Shape;253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24225" y="2524125"/>
              <a:ext cx="3638700" cy="190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4" name="Google Shape;254;p20"/>
          <p:cNvGrpSpPr/>
          <p:nvPr/>
        </p:nvGrpSpPr>
        <p:grpSpPr>
          <a:xfrm>
            <a:off x="1619250" y="3286283"/>
            <a:ext cx="7048500" cy="1763270"/>
            <a:chOff x="1619250" y="3286122"/>
            <a:chExt cx="7048500" cy="1905003"/>
          </a:xfrm>
        </p:grpSpPr>
        <p:sp>
          <p:nvSpPr>
            <p:cNvPr id="255" name="Google Shape;255;p20"/>
            <p:cNvSpPr/>
            <p:nvPr/>
          </p:nvSpPr>
          <p:spPr>
            <a:xfrm>
              <a:off x="1619250" y="3571875"/>
              <a:ext cx="7048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0"/>
            <p:cNvSpPr txBox="1"/>
            <p:nvPr/>
          </p:nvSpPr>
          <p:spPr>
            <a:xfrm>
              <a:off x="2000250" y="3571875"/>
              <a:ext cx="628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MLP Regression Head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Analyzes fused features to learn complex relationships and generate the final market value estimate.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257" name="Google Shape;257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33975" y="3286122"/>
              <a:ext cx="19200" cy="285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0"/>
            <p:cNvSpPr/>
            <p:nvPr/>
          </p:nvSpPr>
          <p:spPr>
            <a:xfrm>
              <a:off x="4905375" y="4524375"/>
              <a:ext cx="476400" cy="476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9" name="Google Shape;259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133975" y="4524375"/>
              <a:ext cx="19200" cy="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20"/>
            <p:cNvSpPr txBox="1"/>
            <p:nvPr/>
          </p:nvSpPr>
          <p:spPr>
            <a:xfrm>
              <a:off x="4667250" y="500062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65F46"/>
                  </a:solidFill>
                  <a:latin typeface="Oswald"/>
                  <a:ea typeface="Oswald"/>
                  <a:cs typeface="Oswald"/>
                  <a:sym typeface="Oswald"/>
                </a:rPr>
                <a:t>FINAL PRICE</a:t>
              </a:r>
              <a:endParaRPr b="1" sz="1000">
                <a:solidFill>
                  <a:srgbClr val="065F46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4905375" y="4553585"/>
              <a:ext cx="476400" cy="4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</a:t>
              </a:r>
              <a:endParaRPr sz="20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cxnSp>
        <p:nvCxnSpPr>
          <p:cNvPr id="262" name="Google Shape;262;p20"/>
          <p:cNvCxnSpPr>
            <a:stCxn id="253" idx="1"/>
          </p:cNvCxnSpPr>
          <p:nvPr/>
        </p:nvCxnSpPr>
        <p:spPr>
          <a:xfrm flipH="1" rot="10800000">
            <a:off x="3324225" y="2514588"/>
            <a:ext cx="11400" cy="18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0"/>
          <p:cNvCxnSpPr>
            <a:stCxn id="253" idx="3"/>
          </p:cNvCxnSpPr>
          <p:nvPr/>
        </p:nvCxnSpPr>
        <p:spPr>
          <a:xfrm flipH="1" rot="10800000">
            <a:off x="6962925" y="2505588"/>
            <a:ext cx="8700" cy="19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0"/>
          <p:cNvCxnSpPr>
            <a:stCxn id="257" idx="0"/>
            <a:endCxn id="252" idx="2"/>
          </p:cNvCxnSpPr>
          <p:nvPr/>
        </p:nvCxnSpPr>
        <p:spPr>
          <a:xfrm rot="10800000">
            <a:off x="5143575" y="3089483"/>
            <a:ext cx="0" cy="19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0" y="0"/>
            <a:ext cx="9144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IMPLEMENTATION: TOOLS &amp; TECHNOLOGIES</a:t>
            </a:r>
            <a:endParaRPr b="1" sz="3200">
              <a:solidFill>
                <a:srgbClr val="F8FAF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272" name="Google Shape;272;p21"/>
          <p:cNvGrpSpPr/>
          <p:nvPr/>
        </p:nvGrpSpPr>
        <p:grpSpPr>
          <a:xfrm>
            <a:off x="381000" y="1143000"/>
            <a:ext cx="2667000" cy="3619500"/>
            <a:chOff x="0" y="0"/>
            <a:chExt cx="2667000" cy="3619500"/>
          </a:xfrm>
        </p:grpSpPr>
        <p:sp>
          <p:nvSpPr>
            <p:cNvPr id="273" name="Google Shape;273;p21"/>
            <p:cNvSpPr/>
            <p:nvPr/>
          </p:nvSpPr>
          <p:spPr>
            <a:xfrm>
              <a:off x="0" y="0"/>
              <a:ext cx="2667000" cy="3619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1"/>
            <p:cNvSpPr/>
            <p:nvPr/>
          </p:nvSpPr>
          <p:spPr>
            <a:xfrm>
              <a:off x="0" y="0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0" y="190500"/>
              <a:ext cx="2667000" cy="1905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1"/>
            <p:cNvSpPr txBox="1"/>
            <p:nvPr/>
          </p:nvSpPr>
          <p:spPr>
            <a:xfrm>
              <a:off x="0" y="0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CORE DATA SCIENCE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77" name="Google Shape;277;p21"/>
            <p:cNvSpPr txBox="1"/>
            <p:nvPr/>
          </p:nvSpPr>
          <p:spPr>
            <a:xfrm>
              <a:off x="142875" y="523875"/>
              <a:ext cx="2381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Python Framework</a:t>
              </a:r>
              <a:endParaRPr b="1" sz="1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Primary language for high-performance numerical computing and matrix calculations.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Pandas: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Large-scale dataset ingestion and rigorous data cleaning.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NumPy: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Efficient storage of high-dimensional tensors and vector operations.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Matplotlib/Seaborn: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Visual diagnostic tools for loss trajectories and price variance.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8" name="Google Shape;278;p21"/>
          <p:cNvGrpSpPr/>
          <p:nvPr/>
        </p:nvGrpSpPr>
        <p:grpSpPr>
          <a:xfrm>
            <a:off x="3238500" y="1143000"/>
            <a:ext cx="2667000" cy="3619500"/>
            <a:chOff x="0" y="0"/>
            <a:chExt cx="2667000" cy="3619500"/>
          </a:xfrm>
        </p:grpSpPr>
        <p:sp>
          <p:nvSpPr>
            <p:cNvPr id="279" name="Google Shape;279;p21"/>
            <p:cNvSpPr/>
            <p:nvPr/>
          </p:nvSpPr>
          <p:spPr>
            <a:xfrm>
              <a:off x="0" y="0"/>
              <a:ext cx="2667000" cy="3619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1"/>
            <p:cNvSpPr/>
            <p:nvPr/>
          </p:nvSpPr>
          <p:spPr>
            <a:xfrm>
              <a:off x="0" y="0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1"/>
            <p:cNvSpPr/>
            <p:nvPr/>
          </p:nvSpPr>
          <p:spPr>
            <a:xfrm>
              <a:off x="0" y="190500"/>
              <a:ext cx="2667000" cy="190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1"/>
            <p:cNvSpPr txBox="1"/>
            <p:nvPr/>
          </p:nvSpPr>
          <p:spPr>
            <a:xfrm>
              <a:off x="0" y="0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NLP &amp; FEATURE EXTRACTION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83" name="Google Shape;283;p21"/>
            <p:cNvSpPr txBox="1"/>
            <p:nvPr/>
          </p:nvSpPr>
          <p:spPr>
            <a:xfrm>
              <a:off x="142875" y="523875"/>
              <a:ext cx="2381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Semantic &amp; Visual Extraction</a:t>
              </a:r>
              <a:endParaRPr b="1" sz="1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Advanced processing pipelines for unstructured product catalog decoding.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NLTK: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Tokenization and stop-word elimination for text normalization.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Sentence Transformers: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Generating 384-d semantic embeddings via MiniLM.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Regex: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Custom parsing for Item Name, Quantity, and Brand ID.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PIL: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Standardization of RGB product images to 224x224 tensors.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4" name="Google Shape;284;p21"/>
          <p:cNvGrpSpPr/>
          <p:nvPr/>
        </p:nvGrpSpPr>
        <p:grpSpPr>
          <a:xfrm>
            <a:off x="6096000" y="1143000"/>
            <a:ext cx="2667000" cy="3619500"/>
            <a:chOff x="0" y="0"/>
            <a:chExt cx="2667000" cy="3619500"/>
          </a:xfrm>
        </p:grpSpPr>
        <p:sp>
          <p:nvSpPr>
            <p:cNvPr id="285" name="Google Shape;285;p21"/>
            <p:cNvSpPr/>
            <p:nvPr/>
          </p:nvSpPr>
          <p:spPr>
            <a:xfrm>
              <a:off x="0" y="0"/>
              <a:ext cx="2667000" cy="3619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1"/>
            <p:cNvSpPr/>
            <p:nvPr/>
          </p:nvSpPr>
          <p:spPr>
            <a:xfrm>
              <a:off x="0" y="0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1"/>
            <p:cNvSpPr/>
            <p:nvPr/>
          </p:nvSpPr>
          <p:spPr>
            <a:xfrm>
              <a:off x="0" y="190500"/>
              <a:ext cx="2667000" cy="190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1"/>
            <p:cNvSpPr txBox="1"/>
            <p:nvPr/>
          </p:nvSpPr>
          <p:spPr>
            <a:xfrm>
              <a:off x="0" y="0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DEEP LEARNING &amp; OPTIMIZATION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89" name="Google Shape;289;p21"/>
            <p:cNvSpPr txBox="1"/>
            <p:nvPr/>
          </p:nvSpPr>
          <p:spPr>
            <a:xfrm>
              <a:off x="142875" y="523875"/>
              <a:ext cx="2381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Predictive Architecture</a:t>
              </a:r>
              <a:endParaRPr b="1" sz="1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Multimodal fusion engine for final price regression.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PyTorch: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Construction of MultimodalFusionMLP and attention layers.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AdamW Optimizer: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Adaptive weight decay (lr: 2e-5 to 5e-4).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Hardware Acceleration: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GPU-driven training via CUDA and Apple MPS.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Scikit-Learn: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K-Fold cross-validation and Robust Scaling of inputs.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0" y="0"/>
            <a:ext cx="9144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MULTIMODAL PIPELINE VISUALIZATION</a:t>
            </a:r>
            <a:endParaRPr b="1" sz="3200">
              <a:solidFill>
                <a:srgbClr val="F8FAF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296" name="Google Shape;296;p22"/>
          <p:cNvGrpSpPr/>
          <p:nvPr/>
        </p:nvGrpSpPr>
        <p:grpSpPr>
          <a:xfrm>
            <a:off x="381000" y="4762500"/>
            <a:ext cx="8382000" cy="285900"/>
            <a:chOff x="381000" y="4762500"/>
            <a:chExt cx="8382000" cy="285900"/>
          </a:xfrm>
        </p:grpSpPr>
        <p:sp>
          <p:nvSpPr>
            <p:cNvPr id="297" name="Google Shape;297;p22"/>
            <p:cNvSpPr/>
            <p:nvPr/>
          </p:nvSpPr>
          <p:spPr>
            <a:xfrm>
              <a:off x="381000" y="4762500"/>
              <a:ext cx="4191000" cy="2859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2"/>
            <p:cNvSpPr txBox="1"/>
            <p:nvPr/>
          </p:nvSpPr>
          <p:spPr>
            <a:xfrm>
              <a:off x="381000" y="4762500"/>
              <a:ext cx="419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BERT TEXT ANALYSIS PIPELINE</a:t>
              </a:r>
              <a:endParaRPr b="1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99" name="Google Shape;299;p22"/>
            <p:cNvSpPr/>
            <p:nvPr/>
          </p:nvSpPr>
          <p:spPr>
            <a:xfrm>
              <a:off x="4762500" y="4762500"/>
              <a:ext cx="4000500" cy="285900"/>
            </a:xfrm>
            <a:prstGeom prst="roundRect">
              <a:avLst>
                <a:gd fmla="val 20000" name="adj"/>
              </a:avLst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2"/>
            <p:cNvSpPr txBox="1"/>
            <p:nvPr/>
          </p:nvSpPr>
          <p:spPr>
            <a:xfrm>
              <a:off x="4762500" y="4762500"/>
              <a:ext cx="400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CLIP VISUAL ANALYSIS PIPELINE</a:t>
              </a:r>
              <a:endParaRPr b="1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pic>
        <p:nvPicPr>
          <p:cNvPr id="301" name="Google Shape;30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" y="1032550"/>
            <a:ext cx="4191001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9750" y="952500"/>
            <a:ext cx="3653250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0" y="0"/>
            <a:ext cx="9144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RESULTS &amp; KEY OUTCOMES</a:t>
            </a:r>
            <a:endParaRPr b="1" sz="3200">
              <a:solidFill>
                <a:srgbClr val="F8FAF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310" name="Google Shape;310;p23"/>
          <p:cNvGrpSpPr/>
          <p:nvPr/>
        </p:nvGrpSpPr>
        <p:grpSpPr>
          <a:xfrm>
            <a:off x="381000" y="1143000"/>
            <a:ext cx="2667000" cy="3619500"/>
            <a:chOff x="0" y="0"/>
            <a:chExt cx="2667000" cy="3619500"/>
          </a:xfrm>
        </p:grpSpPr>
        <p:sp>
          <p:nvSpPr>
            <p:cNvPr id="311" name="Google Shape;311;p23"/>
            <p:cNvSpPr/>
            <p:nvPr/>
          </p:nvSpPr>
          <p:spPr>
            <a:xfrm>
              <a:off x="0" y="0"/>
              <a:ext cx="2667000" cy="3619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3"/>
            <p:cNvSpPr/>
            <p:nvPr/>
          </p:nvSpPr>
          <p:spPr>
            <a:xfrm>
              <a:off x="0" y="0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3"/>
            <p:cNvSpPr/>
            <p:nvPr/>
          </p:nvSpPr>
          <p:spPr>
            <a:xfrm>
              <a:off x="0" y="190500"/>
              <a:ext cx="2667000" cy="1905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3"/>
            <p:cNvSpPr txBox="1"/>
            <p:nvPr/>
          </p:nvSpPr>
          <p:spPr>
            <a:xfrm>
              <a:off x="0" y="0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MODEL PERFORMANCE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15" name="Google Shape;315;p23"/>
            <p:cNvSpPr txBox="1"/>
            <p:nvPr/>
          </p:nvSpPr>
          <p:spPr>
            <a:xfrm>
              <a:off x="190500" y="571500"/>
              <a:ext cx="228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11D48"/>
                  </a:solidFill>
                  <a:latin typeface="Oswald"/>
                  <a:ea typeface="Oswald"/>
                  <a:cs typeface="Oswald"/>
                  <a:sym typeface="Oswald"/>
                </a:rPr>
                <a:t>~60% SMAPE</a:t>
              </a:r>
              <a:endParaRPr b="1" sz="2800">
                <a:solidFill>
                  <a:srgbClr val="E11D48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PREDICTION ACCURACY</a:t>
              </a:r>
              <a:endParaRPr b="1" sz="9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6" name="Google Shape;316;p23"/>
            <p:cNvSpPr txBox="1"/>
            <p:nvPr/>
          </p:nvSpPr>
          <p:spPr>
            <a:xfrm>
              <a:off x="142875" y="1428750"/>
              <a:ext cx="23814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Symmetric Mean Absolute Percentage Error</a:t>
              </a:r>
              <a:endParaRPr b="1" sz="92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Rigorous evaluation across 5-Fold Cross-Validation.</a:t>
              </a:r>
              <a:endParaRPr b="0" sz="9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925"/>
                <a:buFont typeface="Inter"/>
                <a:buChar char="●"/>
              </a:pPr>
              <a:r>
                <a:rPr b="0" lang="en" sz="9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Decodes complex correlations between physical appearance and value.</a:t>
              </a:r>
              <a:endParaRPr b="0" sz="9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1E293B"/>
                </a:buClr>
                <a:buSzPts val="925"/>
                <a:buFont typeface="Inter"/>
                <a:buChar char="●"/>
              </a:pPr>
              <a:r>
                <a:rPr b="0" lang="en" sz="9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High generalizability on unseen, non-standard product samples.</a:t>
              </a:r>
              <a:endParaRPr b="0" sz="9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7" name="Google Shape;317;p23"/>
          <p:cNvGrpSpPr/>
          <p:nvPr/>
        </p:nvGrpSpPr>
        <p:grpSpPr>
          <a:xfrm>
            <a:off x="3238500" y="1143000"/>
            <a:ext cx="2857500" cy="3619500"/>
            <a:chOff x="0" y="0"/>
            <a:chExt cx="2857500" cy="3619500"/>
          </a:xfrm>
        </p:grpSpPr>
        <p:sp>
          <p:nvSpPr>
            <p:cNvPr id="318" name="Google Shape;318;p23"/>
            <p:cNvSpPr/>
            <p:nvPr/>
          </p:nvSpPr>
          <p:spPr>
            <a:xfrm>
              <a:off x="0" y="0"/>
              <a:ext cx="2667000" cy="3619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3"/>
            <p:cNvSpPr/>
            <p:nvPr/>
          </p:nvSpPr>
          <p:spPr>
            <a:xfrm>
              <a:off x="0" y="0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3"/>
            <p:cNvSpPr/>
            <p:nvPr/>
          </p:nvSpPr>
          <p:spPr>
            <a:xfrm>
              <a:off x="0" y="190500"/>
              <a:ext cx="2667000" cy="190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3"/>
            <p:cNvSpPr txBox="1"/>
            <p:nvPr/>
          </p:nvSpPr>
          <p:spPr>
            <a:xfrm>
              <a:off x="0" y="0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MULTIMODAL SUPERIORITY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pic>
          <p:nvPicPr>
            <p:cNvPr descr="A high-tech data visualization dashboard showing overlapping neural network signals from text and image branches merging into a single prediction curve. Professional, dark theme, neon accents." id="322" name="Google Shape;322;p23"/>
            <p:cNvPicPr preferRelativeResize="0"/>
            <p:nvPr/>
          </p:nvPicPr>
          <p:blipFill rotWithShape="1">
            <a:blip r:embed="rId3">
              <a:alphaModFix/>
            </a:blip>
            <a:srcRect b="-14286" l="1789" r="-14287" t="0"/>
            <a:stretch/>
          </p:blipFill>
          <p:spPr>
            <a:xfrm>
              <a:off x="190500" y="571500"/>
              <a:ext cx="2667000" cy="1524000"/>
            </a:xfrm>
            <a:prstGeom prst="roundRect">
              <a:avLst>
                <a:gd fmla="val 7500" name="adj"/>
              </a:avLst>
            </a:prstGeom>
            <a:noFill/>
            <a:ln>
              <a:noFill/>
            </a:ln>
          </p:spPr>
        </p:pic>
        <p:sp>
          <p:nvSpPr>
            <p:cNvPr id="323" name="Google Shape;323;p23"/>
            <p:cNvSpPr txBox="1"/>
            <p:nvPr/>
          </p:nvSpPr>
          <p:spPr>
            <a:xfrm>
              <a:off x="142875" y="2000250"/>
              <a:ext cx="2381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Intrinsic Value Extraction</a:t>
              </a:r>
              <a:endParaRPr b="1" sz="92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925"/>
                <a:buFont typeface="Inter"/>
                <a:buChar char="●"/>
              </a:pPr>
              <a:r>
                <a:rPr b="1" lang="en" sz="92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Textual (BERT):</a:t>
              </a:r>
              <a:r>
                <a:rPr b="0" lang="en" sz="9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Granular details on quantity and brand prestige.</a:t>
              </a:r>
              <a:endParaRPr b="0" sz="9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E293B"/>
                </a:buClr>
                <a:buSzPts val="925"/>
                <a:buFont typeface="Inter"/>
                <a:buChar char="●"/>
              </a:pPr>
              <a:r>
                <a:rPr b="1" lang="en" sz="92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Visual (CLIP):</a:t>
              </a:r>
              <a:r>
                <a:rPr b="0" lang="en" sz="9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Packaging luxury and aesthetic appeal assessment.</a:t>
              </a:r>
              <a:endParaRPr b="0" sz="9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1E293B"/>
                </a:buClr>
                <a:buSzPts val="925"/>
                <a:buFont typeface="Inter"/>
                <a:buChar char="●"/>
              </a:pPr>
              <a:r>
                <a:rPr b="0" lang="en" sz="9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Multimodal fusion compensates for noisy catalog descriptions.</a:t>
              </a:r>
              <a:endParaRPr b="0" sz="9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4" name="Google Shape;324;p23"/>
          <p:cNvGrpSpPr/>
          <p:nvPr/>
        </p:nvGrpSpPr>
        <p:grpSpPr>
          <a:xfrm>
            <a:off x="6096000" y="1143000"/>
            <a:ext cx="2667000" cy="3619500"/>
            <a:chOff x="0" y="0"/>
            <a:chExt cx="2667000" cy="3619500"/>
          </a:xfrm>
        </p:grpSpPr>
        <p:sp>
          <p:nvSpPr>
            <p:cNvPr id="325" name="Google Shape;325;p23"/>
            <p:cNvSpPr/>
            <p:nvPr/>
          </p:nvSpPr>
          <p:spPr>
            <a:xfrm>
              <a:off x="0" y="0"/>
              <a:ext cx="2667000" cy="3619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3"/>
            <p:cNvSpPr/>
            <p:nvPr/>
          </p:nvSpPr>
          <p:spPr>
            <a:xfrm>
              <a:off x="0" y="0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3"/>
            <p:cNvSpPr/>
            <p:nvPr/>
          </p:nvSpPr>
          <p:spPr>
            <a:xfrm>
              <a:off x="0" y="190500"/>
              <a:ext cx="2667000" cy="190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3"/>
            <p:cNvSpPr txBox="1"/>
            <p:nvPr/>
          </p:nvSpPr>
          <p:spPr>
            <a:xfrm>
              <a:off x="0" y="0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BUSINESS INTELLIGENCE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29" name="Google Shape;329;p23"/>
            <p:cNvSpPr txBox="1"/>
            <p:nvPr/>
          </p:nvSpPr>
          <p:spPr>
            <a:xfrm>
              <a:off x="190500" y="571500"/>
              <a:ext cx="228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10B981"/>
                  </a:solidFill>
                  <a:latin typeface="Oswald"/>
                  <a:ea typeface="Oswald"/>
                  <a:cs typeface="Oswald"/>
                  <a:sym typeface="Oswald"/>
                </a:rPr>
                <a:t>SYNERGY</a:t>
              </a:r>
              <a:endParaRPr b="1" sz="2800">
                <a:solidFill>
                  <a:srgbClr val="10B98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COMBINATION ENGINE</a:t>
              </a:r>
              <a:endParaRPr b="1" sz="9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0" name="Google Shape;330;p23"/>
            <p:cNvSpPr txBox="1"/>
            <p:nvPr/>
          </p:nvSpPr>
          <p:spPr>
            <a:xfrm>
              <a:off x="142875" y="1428750"/>
              <a:ext cx="23814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Optimal Product Bundling</a:t>
              </a:r>
              <a:endParaRPr b="1" sz="92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925"/>
                <a:buFont typeface="Inter"/>
                <a:buChar char="●"/>
              </a:pPr>
              <a:r>
                <a:rPr b="0" lang="en" sz="9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Identifies complementary items via embedding cosine similarity.</a:t>
              </a:r>
              <a:endParaRPr b="0" sz="9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E293B"/>
                </a:buClr>
                <a:buSzPts val="925"/>
                <a:buFont typeface="Inter"/>
                <a:buChar char="●"/>
              </a:pPr>
              <a:r>
                <a:rPr b="1" lang="en" sz="92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Strategic Discounting:</a:t>
              </a:r>
              <a:r>
                <a:rPr b="0" lang="en" sz="9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Optimizes bundle prices based on affordability tiers.</a:t>
              </a:r>
              <a:endParaRPr b="0" sz="9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1E293B"/>
                </a:buClr>
                <a:buSzPts val="925"/>
                <a:buFont typeface="Inter"/>
                <a:buChar char="●"/>
              </a:pPr>
              <a:r>
                <a:rPr b="0" lang="en" sz="9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Maximizes platform conversion and fair market value.</a:t>
              </a:r>
              <a:endParaRPr b="0" sz="9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4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FUTURE SCOPE &amp; SCALABILITY</a:t>
            </a:r>
            <a:endParaRPr b="1" sz="3600">
              <a:solidFill>
                <a:srgbClr val="F8FAF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338" name="Google Shape;338;p24"/>
          <p:cNvGrpSpPr/>
          <p:nvPr/>
        </p:nvGrpSpPr>
        <p:grpSpPr>
          <a:xfrm>
            <a:off x="381000" y="1143000"/>
            <a:ext cx="2667000" cy="3619500"/>
            <a:chOff x="381000" y="1143000"/>
            <a:chExt cx="2667000" cy="3619500"/>
          </a:xfrm>
        </p:grpSpPr>
        <p:sp>
          <p:nvSpPr>
            <p:cNvPr id="339" name="Google Shape;339;p24"/>
            <p:cNvSpPr/>
            <p:nvPr/>
          </p:nvSpPr>
          <p:spPr>
            <a:xfrm>
              <a:off x="381000" y="1143000"/>
              <a:ext cx="2667000" cy="3619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4"/>
            <p:cNvSpPr/>
            <p:nvPr/>
          </p:nvSpPr>
          <p:spPr>
            <a:xfrm>
              <a:off x="381000" y="1143000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4"/>
            <p:cNvSpPr/>
            <p:nvPr/>
          </p:nvSpPr>
          <p:spPr>
            <a:xfrm>
              <a:off x="381000" y="1333500"/>
              <a:ext cx="2667000" cy="1905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4"/>
            <p:cNvSpPr txBox="1"/>
            <p:nvPr/>
          </p:nvSpPr>
          <p:spPr>
            <a:xfrm>
              <a:off x="381000" y="1143000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PHASE 1: FOUNDATION &amp; LOCAL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43" name="Google Shape;343;p24"/>
            <p:cNvSpPr txBox="1"/>
            <p:nvPr/>
          </p:nvSpPr>
          <p:spPr>
            <a:xfrm>
              <a:off x="523875" y="1666875"/>
              <a:ext cx="2381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11D48"/>
                  </a:solidFill>
                  <a:latin typeface="Inter"/>
                  <a:ea typeface="Inter"/>
                  <a:cs typeface="Inter"/>
                  <a:sym typeface="Inter"/>
                </a:rPr>
                <a:t>01. Multi-Language Support</a:t>
              </a:r>
              <a:endParaRPr b="1" sz="1000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Fine-tuning BERT for regional languages like Hindi to empower local sellers.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11D48"/>
                  </a:solidFill>
                  <a:latin typeface="Inter"/>
                  <a:ea typeface="Inter"/>
                  <a:cs typeface="Inter"/>
                  <a:sym typeface="Inter"/>
                </a:rPr>
                <a:t>02. Real-Time Market Feedback</a:t>
              </a:r>
              <a:endParaRPr b="1" sz="1000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Integrating dynamic demand signals using Reinforcement Learning.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11D48"/>
                  </a:solidFill>
                  <a:latin typeface="Inter"/>
                  <a:ea typeface="Inter"/>
                  <a:cs typeface="Inter"/>
                  <a:sym typeface="Inter"/>
                </a:rPr>
                <a:t>03. Mobile "Snap &amp; Price"</a:t>
              </a:r>
              <a:endParaRPr b="1" sz="1000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Dedicated app for on-the-go valuation via image capture.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4" name="Google Shape;344;p24"/>
          <p:cNvGrpSpPr/>
          <p:nvPr/>
        </p:nvGrpSpPr>
        <p:grpSpPr>
          <a:xfrm>
            <a:off x="3238500" y="1143000"/>
            <a:ext cx="2667000" cy="3619500"/>
            <a:chOff x="3238500" y="1143000"/>
            <a:chExt cx="2667000" cy="3619500"/>
          </a:xfrm>
        </p:grpSpPr>
        <p:sp>
          <p:nvSpPr>
            <p:cNvPr id="345" name="Google Shape;345;p24"/>
            <p:cNvSpPr/>
            <p:nvPr/>
          </p:nvSpPr>
          <p:spPr>
            <a:xfrm>
              <a:off x="3238500" y="1143000"/>
              <a:ext cx="2667000" cy="3619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4"/>
            <p:cNvSpPr/>
            <p:nvPr/>
          </p:nvSpPr>
          <p:spPr>
            <a:xfrm>
              <a:off x="3238500" y="1143000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4"/>
            <p:cNvSpPr/>
            <p:nvPr/>
          </p:nvSpPr>
          <p:spPr>
            <a:xfrm>
              <a:off x="3238500" y="1333500"/>
              <a:ext cx="2667000" cy="190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4"/>
            <p:cNvSpPr txBox="1"/>
            <p:nvPr/>
          </p:nvSpPr>
          <p:spPr>
            <a:xfrm>
              <a:off x="3238500" y="1143000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PHASE 2: INTELLIGENT AGENTS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49" name="Google Shape;349;p24"/>
            <p:cNvSpPr txBox="1"/>
            <p:nvPr/>
          </p:nvSpPr>
          <p:spPr>
            <a:xfrm>
              <a:off x="3381375" y="1666875"/>
              <a:ext cx="2381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04. Agentic Architecture</a:t>
              </a:r>
              <a:endParaRPr b="1" sz="1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Scaling to multi-agent systems for forecasting and inventory tasks.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05. Graph Neural Networks</a:t>
              </a:r>
              <a:endParaRPr b="1" sz="1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Using GNNs for combinatorial optimization of synergistic product bundles.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06. Enterprise-Level Scalability</a:t>
              </a:r>
              <a:endParaRPr b="1" sz="1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Transitioning from research prototype to high-throughput cloud solution.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0" name="Google Shape;350;p24"/>
          <p:cNvGrpSpPr/>
          <p:nvPr/>
        </p:nvGrpSpPr>
        <p:grpSpPr>
          <a:xfrm>
            <a:off x="6096000" y="1143000"/>
            <a:ext cx="2667000" cy="3619500"/>
            <a:chOff x="6096000" y="1143000"/>
            <a:chExt cx="2667000" cy="3619500"/>
          </a:xfrm>
        </p:grpSpPr>
        <p:sp>
          <p:nvSpPr>
            <p:cNvPr id="351" name="Google Shape;351;p24"/>
            <p:cNvSpPr/>
            <p:nvPr/>
          </p:nvSpPr>
          <p:spPr>
            <a:xfrm>
              <a:off x="6096000" y="1143000"/>
              <a:ext cx="2667000" cy="3619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4"/>
            <p:cNvSpPr/>
            <p:nvPr/>
          </p:nvSpPr>
          <p:spPr>
            <a:xfrm>
              <a:off x="6096000" y="1143000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4"/>
            <p:cNvSpPr/>
            <p:nvPr/>
          </p:nvSpPr>
          <p:spPr>
            <a:xfrm>
              <a:off x="6096000" y="1333500"/>
              <a:ext cx="2667000" cy="190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4"/>
            <p:cNvSpPr txBox="1"/>
            <p:nvPr/>
          </p:nvSpPr>
          <p:spPr>
            <a:xfrm>
              <a:off x="6096000" y="1143000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PHASE 3: GLOBAL ADAPTATION</a:t>
              </a:r>
              <a:endParaRPr b="1" sz="1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55" name="Google Shape;355;p24"/>
            <p:cNvSpPr txBox="1"/>
            <p:nvPr/>
          </p:nvSpPr>
          <p:spPr>
            <a:xfrm>
              <a:off x="6238875" y="1666875"/>
              <a:ext cx="2381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07. Global Market Adaptation</a:t>
              </a:r>
              <a:endParaRPr b="1" sz="1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Customizing value signals for regional currency and market norms.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08. Hybrid Pricing Agent</a:t>
              </a:r>
              <a:endParaRPr b="1" sz="1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Merging intrinsic worth with competitive benchmarks for hybrid valuation.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5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5"/>
          <p:cNvSpPr txBox="1"/>
          <p:nvPr/>
        </p:nvSpPr>
        <p:spPr>
          <a:xfrm>
            <a:off x="0" y="0"/>
            <a:ext cx="9144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REFERENCES</a:t>
            </a:r>
            <a:endParaRPr b="1" sz="3600">
              <a:solidFill>
                <a:srgbClr val="F8FAF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363" name="Google Shape;363;p25"/>
          <p:cNvGrpSpPr/>
          <p:nvPr/>
        </p:nvGrpSpPr>
        <p:grpSpPr>
          <a:xfrm>
            <a:off x="476250" y="1238250"/>
            <a:ext cx="8191500" cy="3429000"/>
            <a:chOff x="0" y="0"/>
            <a:chExt cx="8191500" cy="3429000"/>
          </a:xfrm>
        </p:grpSpPr>
        <p:sp>
          <p:nvSpPr>
            <p:cNvPr id="364" name="Google Shape;364;p25"/>
            <p:cNvSpPr/>
            <p:nvPr/>
          </p:nvSpPr>
          <p:spPr>
            <a:xfrm>
              <a:off x="0" y="0"/>
              <a:ext cx="8191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5"/>
            <p:cNvSpPr txBox="1"/>
            <p:nvPr/>
          </p:nvSpPr>
          <p:spPr>
            <a:xfrm>
              <a:off x="285750" y="285750"/>
              <a:ext cx="76200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28600" lvl="0" marL="2286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[1] Devlin, J., Chang, M., Lee, K., &amp; Toutanova, K. (2019). </a:t>
              </a:r>
              <a:r>
                <a:rPr b="0" lang="en" sz="1110" u="sng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BERT: Pre-training of Deep Bidirectional Transformers for Language Understanding.</a:t>
              </a:r>
              <a:r>
                <a:rPr b="0" lang="en" sz="111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Proceedings of NAACL-HLT.</a:t>
              </a:r>
              <a:endParaRPr b="0" sz="111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28600" lvl="0" marL="2286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[2] Radford, A., Kim, J. W., Hallacy, C., et al. (2021). </a:t>
              </a:r>
              <a:r>
                <a:rPr b="0" lang="en" sz="1110" u="sng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Learning Transferable Visual Models From Natural Language Supervision (CLIP).</a:t>
              </a:r>
              <a:r>
                <a:rPr b="0" lang="en" sz="111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OpenAI.</a:t>
              </a:r>
              <a:endParaRPr b="0" sz="111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28600" lvl="0" marL="2286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[3] Vaswani, A., Shazeer, N., Parmar, N., et al. (2017). </a:t>
              </a:r>
              <a:r>
                <a:rPr b="0" lang="en" sz="1110" u="sng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Attention Is All You Need.</a:t>
              </a:r>
              <a:r>
                <a:rPr b="0" lang="en" sz="111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Advances in Neural Information Processing Systems (NeurIPS).</a:t>
              </a:r>
              <a:endParaRPr b="0" sz="111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28600" lvl="0" marL="2286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[4] He, K., Zhang, X., Ren, S., &amp; Sun, J. (2016). </a:t>
              </a:r>
              <a:r>
                <a:rPr b="0" lang="en" sz="1110" u="sng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Deep Residual Learning for Image Recognition.</a:t>
              </a:r>
              <a:r>
                <a:rPr b="0" lang="en" sz="111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CVPR.</a:t>
              </a:r>
              <a:endParaRPr b="0" sz="111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28600" lvl="0" marL="2286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[5] Tan, M., &amp; Le, Q. (2019). </a:t>
              </a:r>
              <a:r>
                <a:rPr b="0" lang="en" sz="1110" u="sng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EfficientNet: Rethinking Model Scaling for Convolutional Neural Networks.</a:t>
              </a:r>
              <a:r>
                <a:rPr b="0" lang="en" sz="111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ICML.</a:t>
              </a:r>
              <a:endParaRPr b="0" sz="111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28600" lvl="0" marL="2286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[6] Belo, O., &amp; Pereira, D. (2021). </a:t>
              </a:r>
              <a:r>
                <a:rPr b="0" lang="en" sz="1110" u="sng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Data-Driven Dynamic Pricing Models for E-Commerce: A Survey.</a:t>
              </a:r>
              <a:r>
                <a:rPr b="0" lang="en" sz="111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Journal of Retail Analytics.</a:t>
              </a:r>
              <a:endParaRPr b="0" sz="111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28600" lvl="0" marL="2286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[7] Li, X., Yin, X., &amp; Li, C. (2020). </a:t>
              </a:r>
              <a:r>
                <a:rPr b="0" lang="en" sz="1110" u="sng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Oscar: Object-Semantics Aligned Pre-training for Vision-Language Tasks.</a:t>
              </a:r>
              <a:r>
                <a:rPr b="0" lang="en" sz="111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ECCV.</a:t>
              </a:r>
              <a:endParaRPr b="0" sz="111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28600" lvl="0" marL="228600" marR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111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[8] Zhang, Y., Zhao, X., &amp; Chen, L. (2022). </a:t>
              </a:r>
              <a:r>
                <a:rPr b="0" lang="en" sz="1110" u="sng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Multimodal Fusion Approaches for Product Understanding in E-Commerce.</a:t>
              </a:r>
              <a:r>
                <a:rPr b="0" lang="en" sz="111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ACM Transactions on Information Systems.</a:t>
              </a:r>
              <a:endParaRPr b="0" sz="111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rofessional, clean, and modern background with subtle geometric patterns and soft blue-grey gradients. Minimalist high-tech aesthetic, slightly out of focus to ensure text readability." id="370" name="Google Shape;3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371" name="Google Shape;371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>
              <a:alpha val="8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6"/>
          <p:cNvSpPr txBox="1"/>
          <p:nvPr/>
        </p:nvSpPr>
        <p:spPr>
          <a:xfrm>
            <a:off x="0" y="1524000"/>
            <a:ext cx="9144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THANK YOU</a:t>
            </a:r>
            <a:endParaRPr b="1" sz="5400">
              <a:solidFill>
                <a:srgbClr val="F8FAF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73" name="Google Shape;373;p26"/>
          <p:cNvSpPr txBox="1"/>
          <p:nvPr/>
        </p:nvSpPr>
        <p:spPr>
          <a:xfrm>
            <a:off x="0" y="238125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Questions? We're happy to discuss.</a:t>
            </a:r>
            <a:endParaRPr b="0" sz="16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74" name="Google Shape;374;p26"/>
          <p:cNvGrpSpPr/>
          <p:nvPr/>
        </p:nvGrpSpPr>
        <p:grpSpPr>
          <a:xfrm>
            <a:off x="3143250" y="3238500"/>
            <a:ext cx="2857500" cy="1143000"/>
            <a:chOff x="3143250" y="3238500"/>
            <a:chExt cx="2857500" cy="1143000"/>
          </a:xfrm>
        </p:grpSpPr>
        <p:sp>
          <p:nvSpPr>
            <p:cNvPr id="375" name="Google Shape;375;p26"/>
            <p:cNvSpPr/>
            <p:nvPr/>
          </p:nvSpPr>
          <p:spPr>
            <a:xfrm>
              <a:off x="3143250" y="3238500"/>
              <a:ext cx="2857500" cy="1143000"/>
            </a:xfrm>
            <a:prstGeom prst="roundRect">
              <a:avLst>
                <a:gd fmla="val 10000" name="adj"/>
              </a:avLst>
            </a:prstGeom>
            <a:solidFill>
              <a:srgbClr val="FFFFFF">
                <a:alpha val="9500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6"/>
            <p:cNvSpPr txBox="1"/>
            <p:nvPr/>
          </p:nvSpPr>
          <p:spPr>
            <a:xfrm>
              <a:off x="3333750" y="3381375"/>
              <a:ext cx="2476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Presented by:</a:t>
              </a:r>
              <a:endParaRPr b="0" sz="111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95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Bhawna Chauhan</a:t>
              </a:r>
              <a:endParaRPr b="0" sz="1295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95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&amp; </a:t>
              </a:r>
              <a:endParaRPr b="0" sz="1295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95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Nadia</a:t>
              </a:r>
              <a:r>
                <a:rPr b="0" lang="en" sz="1295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Kamar</a:t>
              </a:r>
              <a:endParaRPr b="0" sz="1295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925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77" name="Google Shape;377;p26"/>
          <p:cNvSpPr/>
          <p:nvPr/>
        </p:nvSpPr>
        <p:spPr>
          <a:xfrm>
            <a:off x="4286250" y="295275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E11D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